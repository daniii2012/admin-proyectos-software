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CP" id="{7a629e7b-b264-b511-857d-58cd54217917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Buenas. Voy a mostrar cómo una inteligencia artificial pasó de recibir texto copiado y pegado a poder trabajar sobre los archivos de un proyecto, usando el Model Context Protocol. Instalé un servidor de sistema de archivos en Claude Desktop y lo voy a demostrar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modelo de lenguaje recibe texto y devuelve texto. No abre archivos ni ejecuta comandos. Hay dos razones. De arquitectura: corre en un servidor remoto y no tiene un canal hacia mi disco. De seguridad: ese aislamiento limita el daño, el usuario debe dar su consentimiento, y el contenido de un archivo puede traer instrucciones escondidas.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pregunta central. Una API es un contrato entre programas: quien programa decide de antemano qué llamada se hace y cuándo. En MCP el servidor publica un catálogo de herramientas, el cliente lo descubre al momento y el modelo decide cuál usar según lo que le pido. Los mensajes son JSON-RPC 2.0, y el servidor suele envolver una API que ya existe. Por eso MCP no sustituye a las APIs.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especificación define tres roles. El host es la aplicación con el modelo: en mi caso, Claude Desktop. El cliente es el conector que vive dentro del host. El servidor es el que ofrece las capacidades: aquí, el servidor de sistema de archivos, que Claude Desktop arranca como un proceso local y con el que se comunica por stdio. La versión de la especificación que consulté es la 2026-07-28.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Instalé el servidor de sistema de archivos con Node.js en Claude Desktop. Me listó 14 herramientas, agrupadas en lectura, escritura, búsqueda y permisos. Lo limité a una sola carpeta creada para la tarea, mcp-tarea2. Nunca la raíz del disco ni mi carpeta de usuario completa.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Ahora la demostración. Voy a pedirle en Claude Desktop, uno por uno: listar la carpeta, leer notas punto txt, crear resumen punto md, agregar una línea a proyecto punto md y buscar archivos con la palabra notas. Al final le pido un archivo fuera de la carpeta autorizada, y debe negarse porque el servidor compara cada ruta con los directorios permitidos. Si algo falla, tengo el video de respaldo.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cerrar, respondo la segunda pregunta: qué habilita exactamente el servidor. Permite listar, leer, crear, modificar y buscar archivos, pero solo dentro de las carpetas que se le autorizaron. Los riesgos son las instrucciones escondidas dentro de un archivo, el acceso fuera del límite y las escrituras no deseadas. Se mitigan con confirmación humana, alcance limitado y, si basta con consultar, solo lectura. Gracias.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234440"/>
            <a:ext cx="48463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2971800"/>
            <a:ext cx="48463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4681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Tarea 2 · MCP · 1151055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681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Tarea 2 · MCP · 1151055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23444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MCP: del copiar y pegar a trabajar sobre tus archivos</a:t>
            </a:r>
            <a:endParaRPr lang="en-US" sz="3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29718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Un servidor de sistema de archivos en Claude Desktop</a:t>
            </a:r>
            <a:endParaRPr lang="en-US" sz="1800" dirty="0"/>
          </a:p>
        </p:txBody>
      </p:sp>
      <p:sp>
        <p:nvSpPr>
          <p:cNvPr id="4" name="Datos autora"/>
          <p:cNvSpPr txBox="1"/>
          <p:nvPr/>
        </p:nvSpPr>
        <p:spPr>
          <a:xfrm>
            <a:off x="548640" y="3977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Daniela Nava Martínez</a:t>
            </a:r>
            <a:endParaRPr lang="en-US" sz="1400" dirty="0"/>
          </a:p>
        </p:txBody>
      </p:sp>
      <p:sp>
        <p:nvSpPr>
          <p:cNvPr id="5" name="Datos curso"/>
          <p:cNvSpPr txBox="1"/>
          <p:nvPr/>
        </p:nvSpPr>
        <p:spPr>
          <a:xfrm>
            <a:off x="548640" y="4251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Administración de Proyectos de Software (1151055) · 17 de octubre de 2026</a:t>
            </a:r>
            <a:endParaRPr lang="en-US" sz="1200" dirty="0"/>
          </a:p>
        </p:txBody>
      </p:sp>
      <p:sp>
        <p:nvSpPr>
          <p:cNvPr id="6" name="Órbita exterior"/>
          <p:cNvSpPr/>
          <p:nvPr/>
        </p:nvSpPr>
        <p:spPr>
          <a:xfrm>
            <a:off x="5623560" y="1143000"/>
            <a:ext cx="2834640" cy="2834640"/>
          </a:xfrm>
          <a:prstGeom prst="ellipse">
            <a:avLst/>
          </a:prstGeom>
          <a:ln w="15875">
            <a:solidFill>
              <a:schemeClr val="accent1"/>
            </a:solidFill>
            <a:prstDash val="solid"/>
          </a:ln>
        </p:spPr>
      </p:sp>
      <p:sp>
        <p:nvSpPr>
          <p:cNvPr id="7" name="Círculo central"/>
          <p:cNvSpPr/>
          <p:nvPr/>
        </p:nvSpPr>
        <p:spPr>
          <a:xfrm>
            <a:off x="6172200" y="1691640"/>
            <a:ext cx="1737360" cy="173736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8" name="Icono carpeta" descr="Icono carpe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08" y="2212848"/>
            <a:ext cx="694944" cy="694944"/>
          </a:xfrm>
          <a:prstGeom prst="rect">
            <a:avLst/>
          </a:prstGeom>
        </p:spPr>
      </p:pic>
      <p:sp>
        <p:nvSpPr>
          <p:cNvPr id="9" name="Nodo n1"/>
          <p:cNvSpPr/>
          <p:nvPr/>
        </p:nvSpPr>
        <p:spPr>
          <a:xfrm>
            <a:off x="7475220" y="1058565"/>
            <a:ext cx="548640" cy="548640"/>
          </a:xfrm>
          <a:prstGeom prst="ellipse">
            <a:avLst/>
          </a:prstGeom>
          <a:solidFill>
            <a:srgbClr val="134E4A"/>
          </a:solidFill>
          <a:ln/>
        </p:spPr>
      </p:sp>
      <p:pic>
        <p:nvPicPr>
          <p:cNvPr id="10" name="Icono archivo n1" descr="Archiv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1524" y="1204869"/>
            <a:ext cx="256032" cy="256032"/>
          </a:xfrm>
          <a:prstGeom prst="rect">
            <a:avLst/>
          </a:prstGeom>
        </p:spPr>
      </p:pic>
      <p:sp>
        <p:nvSpPr>
          <p:cNvPr id="11" name="Nodo n2"/>
          <p:cNvSpPr/>
          <p:nvPr/>
        </p:nvSpPr>
        <p:spPr>
          <a:xfrm>
            <a:off x="8098405" y="2770752"/>
            <a:ext cx="548640" cy="548640"/>
          </a:xfrm>
          <a:prstGeom prst="ellipse">
            <a:avLst/>
          </a:prstGeom>
          <a:solidFill>
            <a:srgbClr val="134E4A"/>
          </a:solidFill>
          <a:ln/>
        </p:spPr>
      </p:sp>
      <p:pic>
        <p:nvPicPr>
          <p:cNvPr id="12" name="Icono archivo n2" descr="Archiv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4709" y="2917056"/>
            <a:ext cx="256032" cy="256032"/>
          </a:xfrm>
          <a:prstGeom prst="rect">
            <a:avLst/>
          </a:prstGeom>
        </p:spPr>
      </p:pic>
      <p:sp>
        <p:nvSpPr>
          <p:cNvPr id="13" name="Nodo n3"/>
          <p:cNvSpPr/>
          <p:nvPr/>
        </p:nvSpPr>
        <p:spPr>
          <a:xfrm>
            <a:off x="5539125" y="2994660"/>
            <a:ext cx="548640" cy="548640"/>
          </a:xfrm>
          <a:prstGeom prst="ellipse">
            <a:avLst/>
          </a:prstGeom>
          <a:solidFill>
            <a:srgbClr val="134E4A"/>
          </a:solidFill>
          <a:ln/>
        </p:spPr>
      </p:sp>
      <p:pic>
        <p:nvPicPr>
          <p:cNvPr id="14" name="Icono archivo n3" descr="Archiv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5429" y="3140964"/>
            <a:ext cx="256032" cy="256032"/>
          </a:xfrm>
          <a:prstGeom prst="rect">
            <a:avLst/>
          </a:prstGeom>
        </p:spPr>
      </p:pic>
      <p:sp>
        <p:nvSpPr>
          <p:cNvPr id="15" name="Nodo n4"/>
          <p:cNvSpPr/>
          <p:nvPr/>
        </p:nvSpPr>
        <p:spPr>
          <a:xfrm>
            <a:off x="5953619" y="1124999"/>
            <a:ext cx="548640" cy="548640"/>
          </a:xfrm>
          <a:prstGeom prst="ellipse">
            <a:avLst/>
          </a:prstGeom>
          <a:solidFill>
            <a:srgbClr val="134E4A"/>
          </a:solidFill>
          <a:ln/>
        </p:spPr>
      </p:sp>
      <p:pic>
        <p:nvPicPr>
          <p:cNvPr id="16" name="Icono archivo n4" descr="Archiv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923" y="1271303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Un LLM, por sí solo, no ve tus archivos</a:t>
            </a:r>
            <a:endParaRPr lang="en-US" sz="2800" dirty="0"/>
          </a:p>
        </p:txBody>
      </p:sp>
      <p:sp>
        <p:nvSpPr>
          <p:cNvPr id="3" name="Caja Texto 1"/>
          <p:cNvSpPr/>
          <p:nvPr/>
        </p:nvSpPr>
        <p:spPr>
          <a:xfrm>
            <a:off x="548640" y="1371600"/>
            <a:ext cx="228600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pic>
        <p:nvPicPr>
          <p:cNvPr id="4" name="Icono Texto" descr="Icono Tex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0472" y="1554480"/>
            <a:ext cx="402336" cy="402336"/>
          </a:xfrm>
          <a:prstGeom prst="rect">
            <a:avLst/>
          </a:prstGeom>
        </p:spPr>
      </p:pic>
      <p:sp>
        <p:nvSpPr>
          <p:cNvPr id="5" name="Etiqueta Texto 1"/>
          <p:cNvSpPr txBox="1"/>
          <p:nvPr/>
        </p:nvSpPr>
        <p:spPr>
          <a:xfrm>
            <a:off x="548640" y="20299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Texto</a:t>
            </a:r>
            <a:endParaRPr lang="en-US" sz="2200" dirty="0"/>
          </a:p>
        </p:txBody>
      </p:sp>
      <p:pic>
        <p:nvPicPr>
          <p:cNvPr id="6" name="Flecha 1" descr="Flecha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804" y="1837944"/>
            <a:ext cx="256032" cy="256032"/>
          </a:xfrm>
          <a:prstGeom prst="rect">
            <a:avLst/>
          </a:prstGeom>
        </p:spPr>
      </p:pic>
      <p:sp>
        <p:nvSpPr>
          <p:cNvPr id="7" name="Caja LLM 2"/>
          <p:cNvSpPr/>
          <p:nvPr/>
        </p:nvSpPr>
        <p:spPr>
          <a:xfrm>
            <a:off x="3429000" y="1371600"/>
            <a:ext cx="2286000" cy="1188720"/>
          </a:xfrm>
          <a:prstGeom prst="roundRect">
            <a:avLst>
              <a:gd name="adj" fmla="val 9231"/>
            </a:avLst>
          </a:prstGeom>
          <a:solidFill>
            <a:schemeClr val="tx1"/>
          </a:solidFill>
          <a:ln/>
        </p:spPr>
      </p:sp>
      <p:pic>
        <p:nvPicPr>
          <p:cNvPr id="8" name="Icono LLM" descr="Icono LL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554480"/>
            <a:ext cx="402336" cy="402336"/>
          </a:xfrm>
          <a:prstGeom prst="rect">
            <a:avLst/>
          </a:prstGeom>
        </p:spPr>
      </p:pic>
      <p:sp>
        <p:nvSpPr>
          <p:cNvPr id="9" name="Etiqueta LLM 2"/>
          <p:cNvSpPr txBox="1"/>
          <p:nvPr/>
        </p:nvSpPr>
        <p:spPr>
          <a:xfrm>
            <a:off x="3429000" y="20299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LLM</a:t>
            </a:r>
            <a:endParaRPr lang="en-US" sz="2200" dirty="0"/>
          </a:p>
        </p:txBody>
      </p:sp>
      <p:pic>
        <p:nvPicPr>
          <p:cNvPr id="10" name="Flecha 2" descr="Flecha 2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4164" y="1837944"/>
            <a:ext cx="256032" cy="256032"/>
          </a:xfrm>
          <a:prstGeom prst="rect">
            <a:avLst/>
          </a:prstGeom>
        </p:spPr>
      </p:pic>
      <p:sp>
        <p:nvSpPr>
          <p:cNvPr id="11" name="Caja Texto 3"/>
          <p:cNvSpPr/>
          <p:nvPr/>
        </p:nvSpPr>
        <p:spPr>
          <a:xfrm>
            <a:off x="6309360" y="1371600"/>
            <a:ext cx="228600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pic>
        <p:nvPicPr>
          <p:cNvPr id="12" name="Icono Texto" descr="Icono Text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1192" y="1554480"/>
            <a:ext cx="402336" cy="402336"/>
          </a:xfrm>
          <a:prstGeom prst="rect">
            <a:avLst/>
          </a:prstGeom>
        </p:spPr>
      </p:pic>
      <p:sp>
        <p:nvSpPr>
          <p:cNvPr id="13" name="Etiqueta Texto 3"/>
          <p:cNvSpPr txBox="1"/>
          <p:nvPr/>
        </p:nvSpPr>
        <p:spPr>
          <a:xfrm>
            <a:off x="6309360" y="20299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Texto</a:t>
            </a:r>
            <a:endParaRPr lang="en-US" sz="2200" dirty="0"/>
          </a:p>
        </p:txBody>
      </p:sp>
      <p:sp>
        <p:nvSpPr>
          <p:cNvPr id="14" name="Tarjeta Arquitectura"/>
          <p:cNvSpPr/>
          <p:nvPr/>
        </p:nvSpPr>
        <p:spPr>
          <a:xfrm>
            <a:off x="548640" y="3017520"/>
            <a:ext cx="384048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5" name="Fondo icono Arquitectura"/>
          <p:cNvSpPr/>
          <p:nvPr/>
        </p:nvSpPr>
        <p:spPr>
          <a:xfrm>
            <a:off x="822960" y="3291840"/>
            <a:ext cx="548640" cy="548640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16" name="Icono Arquitectura" descr="Icono Arquitectur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3429000"/>
            <a:ext cx="274320" cy="274320"/>
          </a:xfrm>
          <a:prstGeom prst="rect">
            <a:avLst/>
          </a:prstGeom>
        </p:spPr>
      </p:pic>
      <p:sp>
        <p:nvSpPr>
          <p:cNvPr id="17" name="Título Arquitectura"/>
          <p:cNvSpPr txBox="1"/>
          <p:nvPr/>
        </p:nvSpPr>
        <p:spPr>
          <a:xfrm>
            <a:off x="1554480" y="3246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Arquitectura</a:t>
            </a:r>
            <a:endParaRPr lang="en-US" sz="2000" dirty="0"/>
          </a:p>
        </p:txBody>
      </p:sp>
      <p:sp>
        <p:nvSpPr>
          <p:cNvPr id="18" name="Texto Arquitectura"/>
          <p:cNvSpPr txBox="1"/>
          <p:nvPr/>
        </p:nvSpPr>
        <p:spPr>
          <a:xfrm>
            <a:off x="1554480" y="36576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Corre en un servidor remoto, sin canal a tu disco.</a:t>
            </a:r>
            <a:endParaRPr lang="en-US" sz="1600" dirty="0"/>
          </a:p>
        </p:txBody>
      </p:sp>
      <p:sp>
        <p:nvSpPr>
          <p:cNvPr id="19" name="Tarjeta Seguridad"/>
          <p:cNvSpPr/>
          <p:nvPr/>
        </p:nvSpPr>
        <p:spPr>
          <a:xfrm>
            <a:off x="4754880" y="3017520"/>
            <a:ext cx="384048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0" name="Fondo icono Seguridad"/>
          <p:cNvSpPr/>
          <p:nvPr/>
        </p:nvSpPr>
        <p:spPr>
          <a:xfrm>
            <a:off x="5029200" y="3291840"/>
            <a:ext cx="548640" cy="548640"/>
          </a:xfrm>
          <a:prstGeom prst="ellipse">
            <a:avLst/>
          </a:prstGeom>
          <a:solidFill>
            <a:srgbClr val="FBE9E9"/>
          </a:solidFill>
          <a:ln/>
        </p:spPr>
      </p:sp>
      <p:pic>
        <p:nvPicPr>
          <p:cNvPr id="21" name="Icono Seguridad" descr="Icono Seguridad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6360" y="3429000"/>
            <a:ext cx="274320" cy="274320"/>
          </a:xfrm>
          <a:prstGeom prst="rect">
            <a:avLst/>
          </a:prstGeom>
        </p:spPr>
      </p:pic>
      <p:sp>
        <p:nvSpPr>
          <p:cNvPr id="22" name="Título Seguridad"/>
          <p:cNvSpPr txBox="1"/>
          <p:nvPr/>
        </p:nvSpPr>
        <p:spPr>
          <a:xfrm>
            <a:off x="5760720" y="3246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Seguridad</a:t>
            </a:r>
            <a:endParaRPr lang="en-US" sz="2000" dirty="0"/>
          </a:p>
        </p:txBody>
      </p:sp>
      <p:sp>
        <p:nvSpPr>
          <p:cNvPr id="23" name="Texto Seguridad"/>
          <p:cNvSpPr txBox="1"/>
          <p:nvPr/>
        </p:nvSpPr>
        <p:spPr>
          <a:xfrm>
            <a:off x="5760720" y="36576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Aislamiento, consentimiento e inyección de instrucciones.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¿En qué se diferencia MCP de consumir una API?</a:t>
            </a:r>
            <a:endParaRPr lang="en-US" sz="2800" dirty="0"/>
          </a:p>
        </p:txBody>
      </p:sp>
      <p:sp>
        <p:nvSpPr>
          <p:cNvPr id="3" name="Tarjeta API"/>
          <p:cNvSpPr/>
          <p:nvPr/>
        </p:nvSpPr>
        <p:spPr>
          <a:xfrm>
            <a:off x="548640" y="1371600"/>
            <a:ext cx="38404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4" name="Fondo icono API"/>
          <p:cNvSpPr/>
          <p:nvPr/>
        </p:nvSpPr>
        <p:spPr>
          <a:xfrm>
            <a:off x="868680" y="1691640"/>
            <a:ext cx="548640" cy="548640"/>
          </a:xfrm>
          <a:prstGeom prst="ellipse">
            <a:avLst/>
          </a:prstGeom>
          <a:solidFill>
            <a:srgbClr val="E2E8F0"/>
          </a:solidFill>
          <a:ln/>
        </p:spPr>
      </p:sp>
      <p:pic>
        <p:nvPicPr>
          <p:cNvPr id="5" name="Icono API" descr="Icono AP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28800"/>
            <a:ext cx="274320" cy="274320"/>
          </a:xfrm>
          <a:prstGeom prst="rect">
            <a:avLst/>
          </a:prstGeom>
        </p:spPr>
      </p:pic>
      <p:sp>
        <p:nvSpPr>
          <p:cNvPr id="6" name="Título API"/>
          <p:cNvSpPr txBox="1"/>
          <p:nvPr/>
        </p:nvSpPr>
        <p:spPr>
          <a:xfrm>
            <a:off x="1600200" y="1691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6"/>
                </a:solidFill>
              </a:rPr>
              <a:t>API</a:t>
            </a:r>
            <a:endParaRPr lang="en-US" sz="2600" dirty="0"/>
          </a:p>
        </p:txBody>
      </p:sp>
      <p:sp>
        <p:nvSpPr>
          <p:cNvPr id="7" name="Texto API"/>
          <p:cNvSpPr txBox="1"/>
          <p:nvPr/>
        </p:nvSpPr>
        <p:spPr>
          <a:xfrm>
            <a:off x="868680" y="24231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El programador decide, de antemano, qué se llama y cuándo.</a:t>
            </a:r>
            <a:endParaRPr lang="en-US" sz="1800" dirty="0"/>
          </a:p>
        </p:txBody>
      </p:sp>
      <p:sp>
        <p:nvSpPr>
          <p:cNvPr id="8" name="Tarjeta MCP"/>
          <p:cNvSpPr/>
          <p:nvPr/>
        </p:nvSpPr>
        <p:spPr>
          <a:xfrm>
            <a:off x="4754880" y="1371600"/>
            <a:ext cx="3840480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/>
        </p:spPr>
      </p:sp>
      <p:sp>
        <p:nvSpPr>
          <p:cNvPr id="9" name="Fondo icono MCP"/>
          <p:cNvSpPr/>
          <p:nvPr/>
        </p:nvSpPr>
        <p:spPr>
          <a:xfrm>
            <a:off x="5074920" y="1691640"/>
            <a:ext cx="548640" cy="5486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0" name="Icono MCP" descr="Icono MC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828800"/>
            <a:ext cx="274320" cy="274320"/>
          </a:xfrm>
          <a:prstGeom prst="rect">
            <a:avLst/>
          </a:prstGeom>
        </p:spPr>
      </p:pic>
      <p:sp>
        <p:nvSpPr>
          <p:cNvPr id="11" name="Título MCP"/>
          <p:cNvSpPr txBox="1"/>
          <p:nvPr/>
        </p:nvSpPr>
        <p:spPr>
          <a:xfrm>
            <a:off x="5806440" y="1691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MCP</a:t>
            </a:r>
            <a:endParaRPr lang="en-US" sz="2600" dirty="0"/>
          </a:p>
        </p:txBody>
      </p:sp>
      <p:sp>
        <p:nvSpPr>
          <p:cNvPr id="12" name="Texto MCP"/>
          <p:cNvSpPr txBox="1"/>
          <p:nvPr/>
        </p:nvSpPr>
        <p:spPr>
          <a:xfrm>
            <a:off x="5074920" y="24231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El servidor publica sus herramientas y el modelo decide cuál usar.</a:t>
            </a:r>
            <a:endParaRPr lang="en-US" sz="1800" dirty="0"/>
          </a:p>
        </p:txBody>
      </p:sp>
      <p:sp>
        <p:nvSpPr>
          <p:cNvPr id="13" name="Banda conclusión"/>
          <p:cNvSpPr/>
          <p:nvPr/>
        </p:nvSpPr>
        <p:spPr>
          <a:xfrm>
            <a:off x="548640" y="3657600"/>
            <a:ext cx="8046720" cy="777240"/>
          </a:xfrm>
          <a:prstGeom prst="roundRect">
            <a:avLst>
              <a:gd name="adj" fmla="val 14118"/>
            </a:avLst>
          </a:prstGeom>
          <a:solidFill>
            <a:srgbClr val="E6F4F2"/>
          </a:solidFill>
          <a:ln/>
        </p:spPr>
      </p:sp>
      <p:pic>
        <p:nvPicPr>
          <p:cNvPr id="14" name="Icono enlace" descr="Icono enla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904488"/>
            <a:ext cx="274320" cy="274320"/>
          </a:xfrm>
          <a:prstGeom prst="rect">
            <a:avLst/>
          </a:prstGeom>
        </p:spPr>
      </p:pic>
      <p:sp>
        <p:nvSpPr>
          <p:cNvPr id="15" name="Texto conclusión"/>
          <p:cNvSpPr txBox="1"/>
          <p:nvPr/>
        </p:nvSpPr>
        <p:spPr>
          <a:xfrm>
            <a:off x="1371600" y="365760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MCP no sustituye a las APIs: casi siempre envuelve una que ya existe.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Arquitectura: host, cliente y servidor</a:t>
            </a:r>
            <a:endParaRPr lang="en-US" sz="2800" dirty="0"/>
          </a:p>
        </p:txBody>
      </p:sp>
      <p:sp>
        <p:nvSpPr>
          <p:cNvPr id="3" name="Nodo Host"/>
          <p:cNvSpPr/>
          <p:nvPr/>
        </p:nvSpPr>
        <p:spPr>
          <a:xfrm>
            <a:off x="548640" y="1371600"/>
            <a:ext cx="2286000" cy="164592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</p:sp>
      <p:pic>
        <p:nvPicPr>
          <p:cNvPr id="4" name="Icono Host" descr="Icono Ho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600200"/>
            <a:ext cx="457200" cy="457200"/>
          </a:xfrm>
          <a:prstGeom prst="rect">
            <a:avLst/>
          </a:prstGeom>
        </p:spPr>
      </p:pic>
      <p:sp>
        <p:nvSpPr>
          <p:cNvPr id="5" name="Rol Host"/>
          <p:cNvSpPr txBox="1"/>
          <p:nvPr/>
        </p:nvSpPr>
        <p:spPr>
          <a:xfrm>
            <a:off x="54864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Host</a:t>
            </a:r>
            <a:endParaRPr lang="en-US" sz="2200" dirty="0"/>
          </a:p>
        </p:txBody>
      </p:sp>
      <p:sp>
        <p:nvSpPr>
          <p:cNvPr id="6" name="Detalle Host"/>
          <p:cNvSpPr txBox="1"/>
          <p:nvPr/>
        </p:nvSpPr>
        <p:spPr>
          <a:xfrm>
            <a:off x="548640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Claude Desktop</a:t>
            </a:r>
            <a:endParaRPr lang="en-US" sz="1400" dirty="0"/>
          </a:p>
        </p:txBody>
      </p:sp>
      <p:pic>
        <p:nvPicPr>
          <p:cNvPr id="7" name="Flecha 1" descr="Flecha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804" y="2066544"/>
            <a:ext cx="256032" cy="256032"/>
          </a:xfrm>
          <a:prstGeom prst="rect">
            <a:avLst/>
          </a:prstGeom>
        </p:spPr>
      </p:pic>
      <p:sp>
        <p:nvSpPr>
          <p:cNvPr id="8" name="Nodo Cliente"/>
          <p:cNvSpPr/>
          <p:nvPr/>
        </p:nvSpPr>
        <p:spPr>
          <a:xfrm>
            <a:off x="3429000" y="1371600"/>
            <a:ext cx="2286000" cy="164592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pic>
        <p:nvPicPr>
          <p:cNvPr id="9" name="Icono Cliente" descr="Icono Clien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600200"/>
            <a:ext cx="457200" cy="457200"/>
          </a:xfrm>
          <a:prstGeom prst="rect">
            <a:avLst/>
          </a:prstGeom>
        </p:spPr>
      </p:pic>
      <p:sp>
        <p:nvSpPr>
          <p:cNvPr id="10" name="Rol Cliente"/>
          <p:cNvSpPr txBox="1"/>
          <p:nvPr/>
        </p:nvSpPr>
        <p:spPr>
          <a:xfrm>
            <a:off x="342900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Cliente</a:t>
            </a:r>
            <a:endParaRPr lang="en-US" sz="2200" dirty="0"/>
          </a:p>
        </p:txBody>
      </p:sp>
      <p:sp>
        <p:nvSpPr>
          <p:cNvPr id="11" name="Detalle Cliente"/>
          <p:cNvSpPr txBox="1"/>
          <p:nvPr/>
        </p:nvSpPr>
        <p:spPr>
          <a:xfrm>
            <a:off x="3429000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Conector MCP</a:t>
            </a:r>
            <a:endParaRPr lang="en-US" sz="1400" dirty="0"/>
          </a:p>
        </p:txBody>
      </p:sp>
      <p:pic>
        <p:nvPicPr>
          <p:cNvPr id="12" name="Flecha 2" descr="Flecha 2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4164" y="2066544"/>
            <a:ext cx="256032" cy="256032"/>
          </a:xfrm>
          <a:prstGeom prst="rect">
            <a:avLst/>
          </a:prstGeom>
        </p:spPr>
      </p:pic>
      <p:sp>
        <p:nvSpPr>
          <p:cNvPr id="13" name="Nodo Servidor"/>
          <p:cNvSpPr/>
          <p:nvPr/>
        </p:nvSpPr>
        <p:spPr>
          <a:xfrm>
            <a:off x="6309360" y="1371600"/>
            <a:ext cx="2286000" cy="1645920"/>
          </a:xfrm>
          <a:prstGeom prst="roundRect">
            <a:avLst>
              <a:gd name="adj" fmla="val 6667"/>
            </a:avLst>
          </a:prstGeom>
          <a:solidFill>
            <a:schemeClr val="accent5"/>
          </a:solidFill>
          <a:ln/>
        </p:spPr>
      </p:sp>
      <p:pic>
        <p:nvPicPr>
          <p:cNvPr id="14" name="Icono Servidor" descr="Icono Servido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600200"/>
            <a:ext cx="457200" cy="457200"/>
          </a:xfrm>
          <a:prstGeom prst="rect">
            <a:avLst/>
          </a:prstGeom>
        </p:spPr>
      </p:pic>
      <p:sp>
        <p:nvSpPr>
          <p:cNvPr id="15" name="Rol Servidor"/>
          <p:cNvSpPr txBox="1"/>
          <p:nvPr/>
        </p:nvSpPr>
        <p:spPr>
          <a:xfrm>
            <a:off x="630936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Servidor</a:t>
            </a:r>
            <a:endParaRPr lang="en-US" sz="2200" dirty="0"/>
          </a:p>
        </p:txBody>
      </p:sp>
      <p:sp>
        <p:nvSpPr>
          <p:cNvPr id="16" name="Detalle Servidor"/>
          <p:cNvSpPr txBox="1"/>
          <p:nvPr/>
        </p:nvSpPr>
        <p:spPr>
          <a:xfrm>
            <a:off x="6309360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server-filesystem</a:t>
            </a:r>
            <a:endParaRPr lang="en-US" sz="1400" dirty="0"/>
          </a:p>
        </p:txBody>
      </p:sp>
      <p:sp>
        <p:nvSpPr>
          <p:cNvPr id="17" name="Tarjeta stdio"/>
          <p:cNvSpPr/>
          <p:nvPr/>
        </p:nvSpPr>
        <p:spPr>
          <a:xfrm>
            <a:off x="548640" y="3383280"/>
            <a:ext cx="804672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8" name="Fondo icono stdio"/>
          <p:cNvSpPr/>
          <p:nvPr/>
        </p:nvSpPr>
        <p:spPr>
          <a:xfrm>
            <a:off x="868680" y="3657600"/>
            <a:ext cx="548640" cy="548640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19" name="Icono terminal" descr="Icono termina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3794760"/>
            <a:ext cx="274320" cy="274320"/>
          </a:xfrm>
          <a:prstGeom prst="rect">
            <a:avLst/>
          </a:prstGeom>
        </p:spPr>
      </p:pic>
      <p:sp>
        <p:nvSpPr>
          <p:cNvPr id="20" name="Texto stdio"/>
          <p:cNvSpPr txBox="1"/>
          <p:nvPr/>
        </p:nvSpPr>
        <p:spPr>
          <a:xfrm>
            <a:off x="1645920" y="356616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 comunican por stdio: el cliente arranca el servidor como un proceso local.</a:t>
            </a:r>
            <a:endParaRPr lang="en-US" sz="1600" dirty="0"/>
          </a:p>
        </p:txBody>
      </p:sp>
      <p:sp>
        <p:nvSpPr>
          <p:cNvPr id="21" name="Texto especificación"/>
          <p:cNvSpPr txBox="1"/>
          <p:nvPr/>
        </p:nvSpPr>
        <p:spPr>
          <a:xfrm>
            <a:off x="1645920" y="40233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Mensajes JSON-RPC 2.0 · Especificación 2026-07-28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Lo que instalé</a:t>
            </a:r>
            <a:endParaRPr lang="en-US" sz="2800" dirty="0"/>
          </a:p>
        </p:txBody>
      </p:sp>
      <p:sp>
        <p:nvSpPr>
          <p:cNvPr id="3" name="Tarjeta 14"/>
          <p:cNvSpPr/>
          <p:nvPr/>
        </p:nvSpPr>
        <p:spPr>
          <a:xfrm>
            <a:off x="548640" y="1371600"/>
            <a:ext cx="384048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4" name="Número 14"/>
          <p:cNvSpPr txBox="1"/>
          <p:nvPr/>
        </p:nvSpPr>
        <p:spPr>
          <a:xfrm>
            <a:off x="548640" y="150876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6600" dirty="0"/>
          </a:p>
        </p:txBody>
      </p:sp>
      <p:sp>
        <p:nvSpPr>
          <p:cNvPr id="5" name="Etiqueta 14"/>
          <p:cNvSpPr txBox="1"/>
          <p:nvPr/>
        </p:nvSpPr>
        <p:spPr>
          <a:xfrm>
            <a:off x="548640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herramientas expuestas</a:t>
            </a:r>
            <a:endParaRPr lang="en-US" sz="1800" dirty="0"/>
          </a:p>
        </p:txBody>
      </p:sp>
      <p:sp>
        <p:nvSpPr>
          <p:cNvPr id="6" name="Tarjeta 1"/>
          <p:cNvSpPr/>
          <p:nvPr/>
        </p:nvSpPr>
        <p:spPr>
          <a:xfrm>
            <a:off x="4754880" y="1371600"/>
            <a:ext cx="3840480" cy="1691640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/>
        </p:spPr>
      </p:sp>
      <p:sp>
        <p:nvSpPr>
          <p:cNvPr id="7" name="Número 1"/>
          <p:cNvSpPr txBox="1"/>
          <p:nvPr/>
        </p:nvSpPr>
        <p:spPr>
          <a:xfrm>
            <a:off x="4754880" y="150876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600" dirty="0"/>
          </a:p>
        </p:txBody>
      </p:sp>
      <p:sp>
        <p:nvSpPr>
          <p:cNvPr id="8" name="Etiqueta 1"/>
          <p:cNvSpPr txBox="1"/>
          <p:nvPr/>
        </p:nvSpPr>
        <p:spPr>
          <a:xfrm>
            <a:off x="4754880" y="2560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carpeta permitida</a:t>
            </a:r>
            <a:endParaRPr lang="en-US" sz="1800" dirty="0"/>
          </a:p>
        </p:txBody>
      </p:sp>
      <p:sp>
        <p:nvSpPr>
          <p:cNvPr id="9" name="Chip Lectura"/>
          <p:cNvSpPr/>
          <p:nvPr/>
        </p:nvSpPr>
        <p:spPr>
          <a:xfrm>
            <a:off x="548640" y="3337560"/>
            <a:ext cx="1828800" cy="640080"/>
          </a:xfrm>
          <a:prstGeom prst="roundRect">
            <a:avLst>
              <a:gd name="adj" fmla="val 50000"/>
            </a:avLst>
          </a:prstGeom>
          <a:solidFill>
            <a:srgbClr val="E6F4F2"/>
          </a:solidFill>
          <a:ln/>
        </p:spPr>
      </p:sp>
      <p:pic>
        <p:nvPicPr>
          <p:cNvPr id="10" name="Icono Lectura" descr="Icono Lectu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520440"/>
            <a:ext cx="274320" cy="274320"/>
          </a:xfrm>
          <a:prstGeom prst="rect">
            <a:avLst/>
          </a:prstGeom>
        </p:spPr>
      </p:pic>
      <p:sp>
        <p:nvSpPr>
          <p:cNvPr id="11" name="Texto Lectura"/>
          <p:cNvSpPr txBox="1"/>
          <p:nvPr/>
        </p:nvSpPr>
        <p:spPr>
          <a:xfrm>
            <a:off x="1188720" y="33375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Lectura</a:t>
            </a:r>
            <a:endParaRPr lang="en-US" sz="1600" dirty="0"/>
          </a:p>
        </p:txBody>
      </p:sp>
      <p:sp>
        <p:nvSpPr>
          <p:cNvPr id="12" name="Chip Escritura"/>
          <p:cNvSpPr/>
          <p:nvPr/>
        </p:nvSpPr>
        <p:spPr>
          <a:xfrm>
            <a:off x="2621280" y="3337560"/>
            <a:ext cx="1828800" cy="640080"/>
          </a:xfrm>
          <a:prstGeom prst="roundRect">
            <a:avLst>
              <a:gd name="adj" fmla="val 50000"/>
            </a:avLst>
          </a:prstGeom>
          <a:solidFill>
            <a:srgbClr val="E6F4F2"/>
          </a:solidFill>
          <a:ln/>
        </p:spPr>
      </p:sp>
      <p:pic>
        <p:nvPicPr>
          <p:cNvPr id="13" name="Icono Escritura" descr="Icono Escritu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880" y="3520440"/>
            <a:ext cx="274320" cy="274320"/>
          </a:xfrm>
          <a:prstGeom prst="rect">
            <a:avLst/>
          </a:prstGeom>
        </p:spPr>
      </p:pic>
      <p:sp>
        <p:nvSpPr>
          <p:cNvPr id="14" name="Texto Escritura"/>
          <p:cNvSpPr txBox="1"/>
          <p:nvPr/>
        </p:nvSpPr>
        <p:spPr>
          <a:xfrm>
            <a:off x="3261360" y="33375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Escritura</a:t>
            </a:r>
            <a:endParaRPr lang="en-US" sz="1600" dirty="0"/>
          </a:p>
        </p:txBody>
      </p:sp>
      <p:sp>
        <p:nvSpPr>
          <p:cNvPr id="15" name="Chip Búsqueda"/>
          <p:cNvSpPr/>
          <p:nvPr/>
        </p:nvSpPr>
        <p:spPr>
          <a:xfrm>
            <a:off x="4693920" y="3337560"/>
            <a:ext cx="1828800" cy="640080"/>
          </a:xfrm>
          <a:prstGeom prst="roundRect">
            <a:avLst>
              <a:gd name="adj" fmla="val 50000"/>
            </a:avLst>
          </a:prstGeom>
          <a:solidFill>
            <a:srgbClr val="E6F4F2"/>
          </a:solidFill>
          <a:ln/>
        </p:spPr>
      </p:sp>
      <p:pic>
        <p:nvPicPr>
          <p:cNvPr id="16" name="Icono Búsqueda" descr="Icono Búsqued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2520" y="3520440"/>
            <a:ext cx="274320" cy="274320"/>
          </a:xfrm>
          <a:prstGeom prst="rect">
            <a:avLst/>
          </a:prstGeom>
        </p:spPr>
      </p:pic>
      <p:sp>
        <p:nvSpPr>
          <p:cNvPr id="17" name="Texto Búsqueda"/>
          <p:cNvSpPr txBox="1"/>
          <p:nvPr/>
        </p:nvSpPr>
        <p:spPr>
          <a:xfrm>
            <a:off x="5334000" y="33375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Búsqueda</a:t>
            </a:r>
            <a:endParaRPr lang="en-US" sz="1600" dirty="0"/>
          </a:p>
        </p:txBody>
      </p:sp>
      <p:sp>
        <p:nvSpPr>
          <p:cNvPr id="18" name="Chip Permisos"/>
          <p:cNvSpPr/>
          <p:nvPr/>
        </p:nvSpPr>
        <p:spPr>
          <a:xfrm>
            <a:off x="6766560" y="3337560"/>
            <a:ext cx="1828800" cy="640080"/>
          </a:xfrm>
          <a:prstGeom prst="roundRect">
            <a:avLst>
              <a:gd name="adj" fmla="val 50000"/>
            </a:avLst>
          </a:prstGeom>
          <a:solidFill>
            <a:srgbClr val="E6F4F2"/>
          </a:solidFill>
          <a:ln/>
        </p:spPr>
      </p:sp>
      <p:pic>
        <p:nvPicPr>
          <p:cNvPr id="19" name="Icono Permisos" descr="Icono Permiso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3520440"/>
            <a:ext cx="274320" cy="274320"/>
          </a:xfrm>
          <a:prstGeom prst="rect">
            <a:avLst/>
          </a:prstGeom>
        </p:spPr>
      </p:pic>
      <p:sp>
        <p:nvSpPr>
          <p:cNvPr id="20" name="Texto Permisos"/>
          <p:cNvSpPr txBox="1"/>
          <p:nvPr/>
        </p:nvSpPr>
        <p:spPr>
          <a:xfrm>
            <a:off x="7406640" y="33375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Permisos</a:t>
            </a:r>
            <a:endParaRPr lang="en-US" sz="1600" dirty="0"/>
          </a:p>
        </p:txBody>
      </p:sp>
      <p:pic>
        <p:nvPicPr>
          <p:cNvPr id="21" name="Icono carpeta permitida" descr="Icono carpeta permitid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224528"/>
            <a:ext cx="237744" cy="237744"/>
          </a:xfrm>
          <a:prstGeom prst="rect">
            <a:avLst/>
          </a:prstGeom>
        </p:spPr>
      </p:pic>
      <p:sp>
        <p:nvSpPr>
          <p:cNvPr id="22" name="Nota carpeta"/>
          <p:cNvSpPr txBox="1"/>
          <p:nvPr/>
        </p:nvSpPr>
        <p:spPr>
          <a:xfrm>
            <a:off x="932688" y="4160520"/>
            <a:ext cx="7662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Limitado a mcp-tarea2, nunca la raíz del disco ni mi carpeta de usuario.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Demostración en vivo</a:t>
            </a:r>
            <a:endParaRPr lang="en-US" sz="2800" dirty="0"/>
          </a:p>
        </p:txBody>
      </p:sp>
      <p:sp>
        <p:nvSpPr>
          <p:cNvPr id="3" name="Paso 1"/>
          <p:cNvSpPr/>
          <p:nvPr/>
        </p:nvSpPr>
        <p:spPr>
          <a:xfrm>
            <a:off x="548640" y="1371600"/>
            <a:ext cx="1219200" cy="2103120"/>
          </a:xfrm>
          <a:prstGeom prst="roundRect">
            <a:avLst>
              <a:gd name="adj" fmla="val 9000"/>
            </a:avLst>
          </a:prstGeom>
          <a:solidFill>
            <a:schemeClr val="bg2"/>
          </a:solidFill>
          <a:ln/>
        </p:spPr>
      </p:sp>
      <p:sp>
        <p:nvSpPr>
          <p:cNvPr id="4" name="Número paso 1"/>
          <p:cNvSpPr/>
          <p:nvPr/>
        </p:nvSpPr>
        <p:spPr>
          <a:xfrm>
            <a:off x="88392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Dígito 1"/>
          <p:cNvSpPr txBox="1"/>
          <p:nvPr/>
        </p:nvSpPr>
        <p:spPr>
          <a:xfrm>
            <a:off x="88392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pic>
        <p:nvPicPr>
          <p:cNvPr id="6" name="Icono Listar" descr="Icono List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360" y="2331720"/>
            <a:ext cx="365760" cy="365760"/>
          </a:xfrm>
          <a:prstGeom prst="rect">
            <a:avLst/>
          </a:prstGeom>
        </p:spPr>
      </p:pic>
      <p:sp>
        <p:nvSpPr>
          <p:cNvPr id="7" name="Paso texto 1"/>
          <p:cNvSpPr txBox="1"/>
          <p:nvPr/>
        </p:nvSpPr>
        <p:spPr>
          <a:xfrm>
            <a:off x="621792" y="2788920"/>
            <a:ext cx="1072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Listar</a:t>
            </a:r>
            <a:endParaRPr lang="en-US" sz="1400" dirty="0"/>
          </a:p>
        </p:txBody>
      </p:sp>
      <p:sp>
        <p:nvSpPr>
          <p:cNvPr id="8" name="Paso 2"/>
          <p:cNvSpPr/>
          <p:nvPr/>
        </p:nvSpPr>
        <p:spPr>
          <a:xfrm>
            <a:off x="1914144" y="1371600"/>
            <a:ext cx="1219200" cy="2103120"/>
          </a:xfrm>
          <a:prstGeom prst="roundRect">
            <a:avLst>
              <a:gd name="adj" fmla="val 9000"/>
            </a:avLst>
          </a:prstGeom>
          <a:solidFill>
            <a:schemeClr val="bg2"/>
          </a:solidFill>
          <a:ln/>
        </p:spPr>
      </p:sp>
      <p:sp>
        <p:nvSpPr>
          <p:cNvPr id="9" name="Número paso 2"/>
          <p:cNvSpPr/>
          <p:nvPr/>
        </p:nvSpPr>
        <p:spPr>
          <a:xfrm>
            <a:off x="2249424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Dígito 2"/>
          <p:cNvSpPr txBox="1"/>
          <p:nvPr/>
        </p:nvSpPr>
        <p:spPr>
          <a:xfrm>
            <a:off x="2249424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pic>
        <p:nvPicPr>
          <p:cNvPr id="11" name="Icono Leer" descr="Icono Le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864" y="2331720"/>
            <a:ext cx="365760" cy="365760"/>
          </a:xfrm>
          <a:prstGeom prst="rect">
            <a:avLst/>
          </a:prstGeom>
        </p:spPr>
      </p:pic>
      <p:sp>
        <p:nvSpPr>
          <p:cNvPr id="12" name="Paso texto 2"/>
          <p:cNvSpPr txBox="1"/>
          <p:nvPr/>
        </p:nvSpPr>
        <p:spPr>
          <a:xfrm>
            <a:off x="1987296" y="2788920"/>
            <a:ext cx="1072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Leer</a:t>
            </a:r>
            <a:endParaRPr lang="en-US" sz="1400" dirty="0"/>
          </a:p>
        </p:txBody>
      </p:sp>
      <p:sp>
        <p:nvSpPr>
          <p:cNvPr id="13" name="Paso 3"/>
          <p:cNvSpPr/>
          <p:nvPr/>
        </p:nvSpPr>
        <p:spPr>
          <a:xfrm>
            <a:off x="3279648" y="1371600"/>
            <a:ext cx="1219200" cy="2103120"/>
          </a:xfrm>
          <a:prstGeom prst="roundRect">
            <a:avLst>
              <a:gd name="adj" fmla="val 9000"/>
            </a:avLst>
          </a:prstGeom>
          <a:solidFill>
            <a:schemeClr val="bg2"/>
          </a:solidFill>
          <a:ln/>
        </p:spPr>
      </p:sp>
      <p:sp>
        <p:nvSpPr>
          <p:cNvPr id="14" name="Número paso 3"/>
          <p:cNvSpPr/>
          <p:nvPr/>
        </p:nvSpPr>
        <p:spPr>
          <a:xfrm>
            <a:off x="3614928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Dígito 3"/>
          <p:cNvSpPr txBox="1"/>
          <p:nvPr/>
        </p:nvSpPr>
        <p:spPr>
          <a:xfrm>
            <a:off x="3614928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pic>
        <p:nvPicPr>
          <p:cNvPr id="16" name="Icono Crear" descr="Icono Cre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6368" y="2331720"/>
            <a:ext cx="365760" cy="365760"/>
          </a:xfrm>
          <a:prstGeom prst="rect">
            <a:avLst/>
          </a:prstGeom>
        </p:spPr>
      </p:pic>
      <p:sp>
        <p:nvSpPr>
          <p:cNvPr id="17" name="Paso texto 3"/>
          <p:cNvSpPr txBox="1"/>
          <p:nvPr/>
        </p:nvSpPr>
        <p:spPr>
          <a:xfrm>
            <a:off x="3352800" y="2788920"/>
            <a:ext cx="1072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Crear</a:t>
            </a:r>
            <a:endParaRPr lang="en-US" sz="1400" dirty="0"/>
          </a:p>
        </p:txBody>
      </p:sp>
      <p:sp>
        <p:nvSpPr>
          <p:cNvPr id="18" name="Paso 4"/>
          <p:cNvSpPr/>
          <p:nvPr/>
        </p:nvSpPr>
        <p:spPr>
          <a:xfrm>
            <a:off x="4645152" y="1371600"/>
            <a:ext cx="1219200" cy="2103120"/>
          </a:xfrm>
          <a:prstGeom prst="roundRect">
            <a:avLst>
              <a:gd name="adj" fmla="val 9000"/>
            </a:avLst>
          </a:prstGeom>
          <a:solidFill>
            <a:schemeClr val="bg2"/>
          </a:solidFill>
          <a:ln/>
        </p:spPr>
      </p:sp>
      <p:sp>
        <p:nvSpPr>
          <p:cNvPr id="19" name="Número paso 4"/>
          <p:cNvSpPr/>
          <p:nvPr/>
        </p:nvSpPr>
        <p:spPr>
          <a:xfrm>
            <a:off x="4980432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Dígito 4"/>
          <p:cNvSpPr txBox="1"/>
          <p:nvPr/>
        </p:nvSpPr>
        <p:spPr>
          <a:xfrm>
            <a:off x="4980432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pic>
        <p:nvPicPr>
          <p:cNvPr id="21" name="Icono Modificar" descr="Icono Modific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1872" y="2331720"/>
            <a:ext cx="365760" cy="365760"/>
          </a:xfrm>
          <a:prstGeom prst="rect">
            <a:avLst/>
          </a:prstGeom>
        </p:spPr>
      </p:pic>
      <p:sp>
        <p:nvSpPr>
          <p:cNvPr id="22" name="Paso texto 4"/>
          <p:cNvSpPr txBox="1"/>
          <p:nvPr/>
        </p:nvSpPr>
        <p:spPr>
          <a:xfrm>
            <a:off x="4718304" y="2788920"/>
            <a:ext cx="1072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Modificar</a:t>
            </a:r>
            <a:endParaRPr lang="en-US" sz="1400" dirty="0"/>
          </a:p>
        </p:txBody>
      </p:sp>
      <p:sp>
        <p:nvSpPr>
          <p:cNvPr id="23" name="Paso 5"/>
          <p:cNvSpPr/>
          <p:nvPr/>
        </p:nvSpPr>
        <p:spPr>
          <a:xfrm>
            <a:off x="6010656" y="1371600"/>
            <a:ext cx="1219200" cy="2103120"/>
          </a:xfrm>
          <a:prstGeom prst="roundRect">
            <a:avLst>
              <a:gd name="adj" fmla="val 9000"/>
            </a:avLst>
          </a:prstGeom>
          <a:solidFill>
            <a:schemeClr val="bg2"/>
          </a:solidFill>
          <a:ln/>
        </p:spPr>
      </p:sp>
      <p:sp>
        <p:nvSpPr>
          <p:cNvPr id="24" name="Número paso 5"/>
          <p:cNvSpPr/>
          <p:nvPr/>
        </p:nvSpPr>
        <p:spPr>
          <a:xfrm>
            <a:off x="6345936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Dígito 5"/>
          <p:cNvSpPr txBox="1"/>
          <p:nvPr/>
        </p:nvSpPr>
        <p:spPr>
          <a:xfrm>
            <a:off x="6345936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pic>
        <p:nvPicPr>
          <p:cNvPr id="26" name="Icono Buscar" descr="Icono Busca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7376" y="2331720"/>
            <a:ext cx="365760" cy="365760"/>
          </a:xfrm>
          <a:prstGeom prst="rect">
            <a:avLst/>
          </a:prstGeom>
        </p:spPr>
      </p:pic>
      <p:sp>
        <p:nvSpPr>
          <p:cNvPr id="27" name="Paso texto 5"/>
          <p:cNvSpPr txBox="1"/>
          <p:nvPr/>
        </p:nvSpPr>
        <p:spPr>
          <a:xfrm>
            <a:off x="6083808" y="2788920"/>
            <a:ext cx="1072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Buscar</a:t>
            </a:r>
            <a:endParaRPr lang="en-US" sz="1400" dirty="0"/>
          </a:p>
        </p:txBody>
      </p:sp>
      <p:sp>
        <p:nvSpPr>
          <p:cNvPr id="28" name="Paso 6"/>
          <p:cNvSpPr/>
          <p:nvPr/>
        </p:nvSpPr>
        <p:spPr>
          <a:xfrm>
            <a:off x="7376160" y="1371600"/>
            <a:ext cx="1219200" cy="2103120"/>
          </a:xfrm>
          <a:prstGeom prst="roundRect">
            <a:avLst>
              <a:gd name="adj" fmla="val 9000"/>
            </a:avLst>
          </a:prstGeom>
          <a:solidFill>
            <a:srgbClr val="FBE9E9"/>
          </a:solidFill>
          <a:ln/>
        </p:spPr>
      </p:sp>
      <p:sp>
        <p:nvSpPr>
          <p:cNvPr id="29" name="Número paso 6"/>
          <p:cNvSpPr/>
          <p:nvPr/>
        </p:nvSpPr>
        <p:spPr>
          <a:xfrm>
            <a:off x="7711440" y="16002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0" name="Dígito 6"/>
          <p:cNvSpPr txBox="1"/>
          <p:nvPr/>
        </p:nvSpPr>
        <p:spPr>
          <a:xfrm>
            <a:off x="77114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6</a:t>
            </a:r>
            <a:endParaRPr lang="en-US" sz="2200" dirty="0"/>
          </a:p>
        </p:txBody>
      </p:sp>
      <p:pic>
        <p:nvPicPr>
          <p:cNvPr id="31" name="Icono Fuera de la carpeta" descr="Icono Fuera de la carpet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2880" y="2331720"/>
            <a:ext cx="365760" cy="365760"/>
          </a:xfrm>
          <a:prstGeom prst="rect">
            <a:avLst/>
          </a:prstGeom>
        </p:spPr>
      </p:pic>
      <p:sp>
        <p:nvSpPr>
          <p:cNvPr id="32" name="Paso texto 6"/>
          <p:cNvSpPr txBox="1"/>
          <p:nvPr/>
        </p:nvSpPr>
        <p:spPr>
          <a:xfrm>
            <a:off x="7449312" y="2788920"/>
            <a:ext cx="1072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Fuera de la carpeta</a:t>
            </a:r>
            <a:endParaRPr lang="en-US" sz="1400" dirty="0"/>
          </a:p>
        </p:txBody>
      </p:sp>
      <p:sp>
        <p:nvSpPr>
          <p:cNvPr id="33" name="Banda aviso"/>
          <p:cNvSpPr/>
          <p:nvPr/>
        </p:nvSpPr>
        <p:spPr>
          <a:xfrm>
            <a:off x="548640" y="3749040"/>
            <a:ext cx="8046720" cy="731520"/>
          </a:xfrm>
          <a:prstGeom prst="roundRect">
            <a:avLst>
              <a:gd name="adj" fmla="val 15000"/>
            </a:avLst>
          </a:prstGeom>
          <a:solidFill>
            <a:srgbClr val="FBE9E9"/>
          </a:solidFill>
          <a:ln/>
        </p:spPr>
      </p:sp>
      <p:pic>
        <p:nvPicPr>
          <p:cNvPr id="34" name="Icono aviso" descr="Icono aviso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3977640"/>
            <a:ext cx="274320" cy="274320"/>
          </a:xfrm>
          <a:prstGeom prst="rect">
            <a:avLst/>
          </a:prstGeom>
        </p:spPr>
      </p:pic>
      <p:sp>
        <p:nvSpPr>
          <p:cNvPr id="35" name="Texto aviso"/>
          <p:cNvSpPr txBox="1"/>
          <p:nvPr/>
        </p:nvSpPr>
        <p:spPr>
          <a:xfrm>
            <a:off x="1371600" y="37490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El último paso debe negarse: el servidor rechaza la ruta.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Qué habilita el servidor y qué cuidar</a:t>
            </a:r>
            <a:endParaRPr lang="en-US" sz="2800" dirty="0"/>
          </a:p>
        </p:txBody>
      </p:sp>
      <p:sp>
        <p:nvSpPr>
          <p:cNvPr id="3" name="Tarjeta Habilita"/>
          <p:cNvSpPr/>
          <p:nvPr/>
        </p:nvSpPr>
        <p:spPr>
          <a:xfrm>
            <a:off x="548640" y="1371600"/>
            <a:ext cx="2194560" cy="30632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</p:sp>
      <p:sp>
        <p:nvSpPr>
          <p:cNvPr id="4" name="Fondo icono Habilita"/>
          <p:cNvSpPr/>
          <p:nvPr/>
        </p:nvSpPr>
        <p:spPr>
          <a:xfrm>
            <a:off x="822960" y="16459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o Habilita" descr="Icono Habili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801368"/>
            <a:ext cx="283464" cy="283464"/>
          </a:xfrm>
          <a:prstGeom prst="rect">
            <a:avLst/>
          </a:prstGeom>
        </p:spPr>
      </p:pic>
      <p:sp>
        <p:nvSpPr>
          <p:cNvPr id="6" name="Título Habilita"/>
          <p:cNvSpPr txBox="1"/>
          <p:nvPr/>
        </p:nvSpPr>
        <p:spPr>
          <a:xfrm>
            <a:off x="822960" y="2331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Habilita</a:t>
            </a:r>
            <a:endParaRPr lang="en-US" sz="2200" dirty="0"/>
          </a:p>
        </p:txBody>
      </p:sp>
      <p:sp>
        <p:nvSpPr>
          <p:cNvPr id="7" name="Texto Habilita"/>
          <p:cNvSpPr txBox="1"/>
          <p:nvPr/>
        </p:nvSpPr>
        <p:spPr>
          <a:xfrm>
            <a:off x="822960" y="283464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Listar, leer, crear, modificar y buscar archivos, solo dentro de las carpetas permitidas.</a:t>
            </a:r>
            <a:endParaRPr lang="en-US" sz="1600" dirty="0"/>
          </a:p>
        </p:txBody>
      </p:sp>
      <p:sp>
        <p:nvSpPr>
          <p:cNvPr id="8" name="Tarjeta Riesgos"/>
          <p:cNvSpPr/>
          <p:nvPr/>
        </p:nvSpPr>
        <p:spPr>
          <a:xfrm>
            <a:off x="2926080" y="1371600"/>
            <a:ext cx="3108960" cy="3063240"/>
          </a:xfrm>
          <a:prstGeom prst="roundRect">
            <a:avLst>
              <a:gd name="adj" fmla="val 3582"/>
            </a:avLst>
          </a:prstGeom>
          <a:solidFill>
            <a:schemeClr val="tx2"/>
          </a:solidFill>
          <a:ln/>
        </p:spPr>
      </p:sp>
      <p:sp>
        <p:nvSpPr>
          <p:cNvPr id="9" name="Fondo icono Riesgos"/>
          <p:cNvSpPr/>
          <p:nvPr/>
        </p:nvSpPr>
        <p:spPr>
          <a:xfrm>
            <a:off x="3200400" y="164592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cono Riesgos" descr="Icono Riesg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1801368"/>
            <a:ext cx="283464" cy="283464"/>
          </a:xfrm>
          <a:prstGeom prst="rect">
            <a:avLst/>
          </a:prstGeom>
        </p:spPr>
      </p:pic>
      <p:sp>
        <p:nvSpPr>
          <p:cNvPr id="11" name="Título Riesgos"/>
          <p:cNvSpPr txBox="1"/>
          <p:nvPr/>
        </p:nvSpPr>
        <p:spPr>
          <a:xfrm>
            <a:off x="3200400" y="2331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Riesgos</a:t>
            </a:r>
            <a:endParaRPr lang="en-US" sz="2200" dirty="0"/>
          </a:p>
        </p:txBody>
      </p:sp>
      <p:sp>
        <p:nvSpPr>
          <p:cNvPr id="12" name="Lista Riesgos"/>
          <p:cNvSpPr txBox="1"/>
          <p:nvPr/>
        </p:nvSpPr>
        <p:spPr>
          <a:xfrm>
            <a:off x="3200400" y="283464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Instrucciones escondidas en un archivo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Acceso fuera del límite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Escrituras no deseadas</a:t>
            </a:r>
            <a:endParaRPr lang="en-US" sz="1600" dirty="0"/>
          </a:p>
        </p:txBody>
      </p:sp>
      <p:sp>
        <p:nvSpPr>
          <p:cNvPr id="13" name="Tarjeta Mitigaciones"/>
          <p:cNvSpPr/>
          <p:nvPr/>
        </p:nvSpPr>
        <p:spPr>
          <a:xfrm>
            <a:off x="6217920" y="1371600"/>
            <a:ext cx="2377440" cy="30632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</p:spPr>
      </p:sp>
      <p:sp>
        <p:nvSpPr>
          <p:cNvPr id="14" name="Fondo icono Mitigaciones"/>
          <p:cNvSpPr/>
          <p:nvPr/>
        </p:nvSpPr>
        <p:spPr>
          <a:xfrm>
            <a:off x="6492240" y="16459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o Mitigaciones" descr="Icono Mitigacion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88" y="1801368"/>
            <a:ext cx="283464" cy="283464"/>
          </a:xfrm>
          <a:prstGeom prst="rect">
            <a:avLst/>
          </a:prstGeom>
        </p:spPr>
      </p:pic>
      <p:sp>
        <p:nvSpPr>
          <p:cNvPr id="16" name="Título Mitigaciones"/>
          <p:cNvSpPr txBox="1"/>
          <p:nvPr/>
        </p:nvSpPr>
        <p:spPr>
          <a:xfrm>
            <a:off x="649224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Mitigaciones</a:t>
            </a:r>
            <a:endParaRPr lang="en-US" sz="2200" dirty="0"/>
          </a:p>
        </p:txBody>
      </p:sp>
      <p:sp>
        <p:nvSpPr>
          <p:cNvPr id="17" name="Lista Mitigaciones"/>
          <p:cNvSpPr txBox="1"/>
          <p:nvPr/>
        </p:nvSpPr>
        <p:spPr>
          <a:xfrm>
            <a:off x="6492240" y="28346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Confirmación humana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Carpeta limitada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Solo lectura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6817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CP Tarea 2">
  <a:themeElements>
    <a:clrScheme name="MCP Tarea 2">
      <a:dk1>
        <a:srgbClr val="0F172A"/>
      </a:dk1>
      <a:lt1>
        <a:srgbClr val="FFFFFF"/>
      </a:lt1>
      <a:dk2>
        <a:srgbClr val="134E4A"/>
      </a:dk2>
      <a:lt2>
        <a:srgbClr val="F1F5F9"/>
      </a:lt2>
      <a:accent1>
        <a:srgbClr val="0F766E"/>
      </a:accent1>
      <a:accent2>
        <a:srgbClr val="2DD4BF"/>
      </a:accent2>
      <a:accent3>
        <a:srgbClr val="C62828"/>
      </a:accent3>
      <a:accent4>
        <a:srgbClr val="F59E0B"/>
      </a:accent4>
      <a:accent5>
        <a:srgbClr val="2563EB"/>
      </a:accent5>
      <a:accent6>
        <a:srgbClr val="475569"/>
      </a:accent6>
      <a:hlink>
        <a:srgbClr val="0F766E"/>
      </a:hlink>
      <a:folHlink>
        <a:srgbClr val="475569"/>
      </a:folHlink>
    </a:clrScheme>
    <a:fontScheme name="MCP Tarea 2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MCP: del copiar y pegar a trabajar sobre tus archivos</dc:title>
  <dc:subject>PptxGenJS Presentation</dc:subject>
  <dc:creator>Daniela Nava Martínez</dc:creator>
  <cp:lastModifiedBy>Daniela Nava Martínez</cp:lastModifiedBy>
  <cp:revision>1</cp:revision>
  <dcterms:created xsi:type="dcterms:W3CDTF">2026-10-18T01:15:00Z</dcterms:created>
  <dcterms:modified xsi:type="dcterms:W3CDTF">2026-10-18T01:15:00Z</dcterms:modified>
</cp:coreProperties>
</file>